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0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A0A63D-ACC1-1608-4735-4DA4ED74D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2AB8CB-AF90-3D21-A8AE-CC28C1456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808438-836C-2913-7AB1-74E86139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0F6791-FB8B-A104-2F3A-B8EE4CDE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ADCB40-73C0-0BD2-9F49-AC5172EF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62597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246B1-D8DF-37B3-D8F7-2174C5FF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05F969-B34B-ED6F-376B-226919D8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67F6DB-DFC7-175A-6251-C898B357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CFE158-BE01-AB1C-EEE8-37CDBE70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E2F5D5-3D73-D5E2-8041-3C89022D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30334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CD5BF1-1793-6144-6C9A-1041993E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B6772D-D48D-0ABD-7E8C-0CEA9D98C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329507-884F-86BC-2861-F9D09AF8A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55F1FB-CDDD-555B-4358-4DD605D8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51949F-887A-17F8-EF28-480F5FA4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20792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8850B1-8E1D-286C-92D0-9DB69284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8532AF-18A5-BBA0-DE02-7EC2D3064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0BEF6B0-3C50-7FBA-F1C1-8EB02FC06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5C349D-2B49-02C5-91AF-2FE0D58C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9A4439-AF70-3461-21AA-BB2794CB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B193DF-2791-3693-EC0B-C815E70D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75735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DC48B9-14D4-CD57-DA41-39918B4A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E0D4A2-B7CD-0D3F-33DC-66C256DA7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3C6FA3-5F01-8D7D-2A52-5536787FB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1F7A3D-88B3-85AB-DD22-4BE3E5AE5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A3F4440-EEBC-DBCA-8298-BA84801B1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EE61C1A-CFF0-D59C-7765-4DAB4F78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0FFAFB-DA29-47D6-1844-4E22728F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327EDF-6957-185A-784B-42B2497D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16420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CC3F3-E23C-730E-60D1-19ED3ED1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D4FADD-92F4-09F8-D8FD-63E990AF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A16B65-E1FB-F5F3-7726-B8A85DA5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47D079-0109-EF6E-4BDA-14D06C43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022053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C30998-D5F4-A1F5-B6B9-E87847ED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73B78F3-DD1E-2B6F-236E-657014BB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620ED9-C5C7-88C9-1BA3-2C38BC87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89268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2DF38F-5AB9-ECEB-3591-0E76FFE77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5DCEE-90F9-2FE6-9799-C462ADD43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EDF5DE-CC05-7E86-8BB7-FF3D7A788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BB79AC9-24BD-2076-B4E0-DFF654DB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901DC1-18B8-7E84-7A0D-C7C88A0E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AE28DF-1B25-FAC9-54A8-E5441B1C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2248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4EA890-521E-7DF5-2432-3FF31AE6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7C46CAD-15E6-8DC3-1DAF-5957BD4C2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D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681800-D2ED-123F-2DA8-1D3CB80FF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214ACE-8EC0-64AB-8EA5-B337B1A2B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F6AB43-1433-85E4-32A2-F6C71B08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906EE2-8279-1F8C-97E3-1F885BB8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27884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34F65C-0B4D-409B-0F1A-F81730A2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37D929-3098-B426-87C7-616DE3C14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C9BDC0-11E6-3192-D22B-625ED35D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B725B8-B4E7-43BB-2E68-3C538E0C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508475-50EB-0F18-3BBF-0E94AEC4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01652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64022A-6B70-9F79-6870-B24822A0A6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D34191-6F77-CE0B-B8B5-AD9BA28A9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98AA88-03C8-CF6A-F6DF-8774F094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2E1716-078A-3151-D75F-F8FACFF5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EE1F4D-7B84-6EAF-CF60-4B0DA221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0861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F177B80-4753-AEFE-AA99-1E6DCFA6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D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C00603-3D5C-E0BD-E009-FDF22B644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D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69B684-F370-273B-959B-73F1B05F7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49917-570E-4375-AB8D-33AEDE0DBC39}" type="datetimeFigureOut">
              <a:rPr lang="fr-CD" smtClean="0"/>
              <a:t>05/09/2026</a:t>
            </a:fld>
            <a:endParaRPr lang="fr-CD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70081C-A377-7AE9-2B15-4B36223C8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61A6D8-1E0A-655A-ECF1-12FFDACDB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40662-6281-4D47-9C64-253E92A3E85F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14125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41C1A-0CA3-4BE4-40A2-F0BE5CA61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CD" sz="4000"/>
              <a:t>CONGO TOP FASHION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FED359-EA8F-0FCE-DC03-C7F5BBF1E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/>
              <a:t>Bilan de performance 2021-2025 et perspectives 2026</a:t>
            </a:r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990326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84E20E-7326-422B-B8F7-E35224A2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Resume executif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C5D33-7866-161F-EC94-F865B0772175}"/>
              </a:ext>
            </a:extLst>
          </p:cNvPr>
          <p:cNvSpPr/>
          <p:nvPr/>
        </p:nvSpPr>
        <p:spPr>
          <a:xfrm>
            <a:off x="508000" y="1524000"/>
            <a:ext cx="3302000" cy="1143000"/>
          </a:xfrm>
          <a:prstGeom prst="rect">
            <a:avLst/>
          </a:prstGeom>
          <a:solidFill>
            <a:srgbClr val="DCE9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rtlCol="0" anchor="ctr"/>
          <a:lstStyle/>
          <a:p>
            <a:pPr algn="ctr"/>
            <a:r>
              <a:rPr lang="fr-CD" sz="1100">
                <a:solidFill>
                  <a:srgbClr val="666666"/>
                </a:solidFill>
              </a:rPr>
              <a:t>CA Realise 2021-2025</a:t>
            </a:r>
          </a:p>
          <a:p>
            <a:pPr algn="ctr"/>
            <a:r>
              <a:rPr lang="fr-CD" sz="2000" b="1"/>
              <a:t>2 385 826 USD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2CD1F-3D32-A177-DCDE-3B5FBC972FC8}"/>
              </a:ext>
            </a:extLst>
          </p:cNvPr>
          <p:cNvSpPr/>
          <p:nvPr/>
        </p:nvSpPr>
        <p:spPr>
          <a:xfrm>
            <a:off x="4064000" y="1524000"/>
            <a:ext cx="3302000" cy="1143000"/>
          </a:xfrm>
          <a:prstGeom prst="rect">
            <a:avLst/>
          </a:prstGeom>
          <a:solidFill>
            <a:srgbClr val="DCE9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rtlCol="0" anchor="ctr"/>
          <a:lstStyle/>
          <a:p>
            <a:pPr algn="ctr"/>
            <a:r>
              <a:rPr lang="fr-CD" sz="1100">
                <a:solidFill>
                  <a:srgbClr val="666666"/>
                </a:solidFill>
              </a:rPr>
              <a:t>Benefice Realise</a:t>
            </a:r>
          </a:p>
          <a:p>
            <a:pPr algn="ctr"/>
            <a:r>
              <a:rPr lang="fr-CD" sz="2000" b="1"/>
              <a:t>686 050 USD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EACB0-528D-69B5-7099-5DF329E1D381}"/>
              </a:ext>
            </a:extLst>
          </p:cNvPr>
          <p:cNvSpPr/>
          <p:nvPr/>
        </p:nvSpPr>
        <p:spPr>
          <a:xfrm>
            <a:off x="7620000" y="1524000"/>
            <a:ext cx="3302000" cy="1143000"/>
          </a:xfrm>
          <a:prstGeom prst="rect">
            <a:avLst/>
          </a:prstGeom>
          <a:solidFill>
            <a:srgbClr val="DCE9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rtlCol="0" anchor="ctr"/>
          <a:lstStyle/>
          <a:p>
            <a:pPr algn="ctr"/>
            <a:r>
              <a:rPr lang="fr-CD" sz="1100">
                <a:solidFill>
                  <a:srgbClr val="666666"/>
                </a:solidFill>
              </a:rPr>
              <a:t>Marge Nette Reelle</a:t>
            </a:r>
          </a:p>
          <a:p>
            <a:pPr algn="ctr"/>
            <a:r>
              <a:rPr lang="fr-CD" sz="2000" b="1"/>
              <a:t>23.6%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7322B6-3570-BD91-63C1-5B6BFAF7C7E9}"/>
              </a:ext>
            </a:extLst>
          </p:cNvPr>
          <p:cNvSpPr/>
          <p:nvPr/>
        </p:nvSpPr>
        <p:spPr>
          <a:xfrm>
            <a:off x="508000" y="2921000"/>
            <a:ext cx="3302000" cy="1143000"/>
          </a:xfrm>
          <a:prstGeom prst="rect">
            <a:avLst/>
          </a:prstGeom>
          <a:solidFill>
            <a:srgbClr val="DCE9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rtlCol="0" anchor="ctr"/>
          <a:lstStyle/>
          <a:p>
            <a:pPr algn="ctr"/>
            <a:r>
              <a:rPr lang="fr-CD" sz="1100">
                <a:solidFill>
                  <a:srgbClr val="666666"/>
                </a:solidFill>
              </a:rPr>
              <a:t>Nb Clients</a:t>
            </a:r>
          </a:p>
          <a:p>
            <a:pPr algn="ctr"/>
            <a:r>
              <a:rPr lang="fr-CD" sz="2000" b="1"/>
              <a:t>2 000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2D037-C5AF-B5B7-5F87-282015F0AF53}"/>
              </a:ext>
            </a:extLst>
          </p:cNvPr>
          <p:cNvSpPr/>
          <p:nvPr/>
        </p:nvSpPr>
        <p:spPr>
          <a:xfrm>
            <a:off x="4064000" y="2921000"/>
            <a:ext cx="3302000" cy="1143000"/>
          </a:xfrm>
          <a:prstGeom prst="rect">
            <a:avLst/>
          </a:prstGeom>
          <a:solidFill>
            <a:srgbClr val="DCE9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rtlCol="0" anchor="ctr"/>
          <a:lstStyle/>
          <a:p>
            <a:pPr algn="ctr"/>
            <a:r>
              <a:rPr lang="fr-CD" sz="1100">
                <a:solidFill>
                  <a:srgbClr val="666666"/>
                </a:solidFill>
              </a:rPr>
              <a:t>Nb Commandes</a:t>
            </a:r>
          </a:p>
          <a:p>
            <a:pPr algn="ctr"/>
            <a:r>
              <a:rPr lang="fr-CD" sz="2000" b="1"/>
              <a:t>15 000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B2076-DE34-6CD8-7683-72FCD40CDB36}"/>
              </a:ext>
            </a:extLst>
          </p:cNvPr>
          <p:cNvSpPr/>
          <p:nvPr/>
        </p:nvSpPr>
        <p:spPr>
          <a:xfrm>
            <a:off x="7620000" y="2921000"/>
            <a:ext cx="3302000" cy="1143000"/>
          </a:xfrm>
          <a:prstGeom prst="rect">
            <a:avLst/>
          </a:prstGeom>
          <a:solidFill>
            <a:srgbClr val="DCE9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rtlCol="0" anchor="ctr"/>
          <a:lstStyle/>
          <a:p>
            <a:pPr algn="ctr"/>
            <a:r>
              <a:rPr lang="it-IT" sz="1100">
                <a:solidFill>
                  <a:srgbClr val="666666"/>
                </a:solidFill>
              </a:rPr>
              <a:t>Prevision CA 2026</a:t>
            </a:r>
          </a:p>
          <a:p>
            <a:pPr algn="ctr"/>
            <a:r>
              <a:rPr lang="it-IT" sz="2000" b="1"/>
              <a:t>743k - 851k USD</a:t>
            </a:r>
            <a:endParaRPr lang="fr-CD" sz="2000" b="1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802BD14-E0F4-CBC7-1A60-AD63E6268B97}"/>
              </a:ext>
            </a:extLst>
          </p:cNvPr>
          <p:cNvSpPr txBox="1"/>
          <p:nvPr/>
        </p:nvSpPr>
        <p:spPr>
          <a:xfrm>
            <a:off x="508000" y="4445000"/>
            <a:ext cx="10414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/>
              <a:t>- Croissance x3.1 en 5 ans, mais deceleration continue (+51.5% en 2022 -&gt; +16.4% en 2025)</a:t>
            </a:r>
          </a:p>
          <a:p>
            <a:r>
              <a:rPr lang="fr-FR" sz="1600"/>
              <a:t>- Clients Champions (17.1% de la base) generent 49.2% du CA</a:t>
            </a:r>
          </a:p>
          <a:p>
            <a:r>
              <a:rPr lang="fr-FR" sz="1600"/>
              <a:t>- 44.4% des clients ne sont pas actifs</a:t>
            </a:r>
          </a:p>
          <a:p>
            <a:r>
              <a:rPr lang="fr-FR" sz="1600"/>
              <a:t>- 4.77M USD immobilises en surstock</a:t>
            </a:r>
          </a:p>
          <a:p>
            <a:r>
              <a:rPr lang="fr-FR" sz="1600"/>
              <a:t>- Aucune boutique n'atteint son objectif commercial</a:t>
            </a:r>
            <a:endParaRPr lang="fr-CD" sz="1600"/>
          </a:p>
        </p:txBody>
      </p:sp>
    </p:spTree>
    <p:extLst>
      <p:ext uri="{BB962C8B-B14F-4D97-AF65-F5344CB8AC3E}">
        <p14:creationId xmlns:p14="http://schemas.microsoft.com/office/powerpoint/2010/main" val="359424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4A33C-23A2-3117-AEB2-D3EED0F3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Evolution du chiffre d'affaires 2021-2025</a:t>
            </a:r>
            <a:endParaRPr lang="fr-CD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E52DF27-3791-3A18-44E0-358F81DBA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001220"/>
              </p:ext>
            </p:extLst>
          </p:nvPr>
        </p:nvGraphicFramePr>
        <p:xfrm>
          <a:off x="508000" y="1524000"/>
          <a:ext cx="10922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814069279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15077015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335997288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27689349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006145658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r>
                        <a:rPr lang="fr-CD" sz="1400" b="1"/>
                        <a:t>Annee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CA_Realise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Marge_Pct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Nb_Commandes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Panier_Moyen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879332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fr-CD" sz="140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228634.06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29.3767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127.0189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298943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fr-CD" sz="140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346303.93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29.0831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144.2933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92213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fr-CD" sz="140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492486.39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28.5508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164.1621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79722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fr-CD" sz="140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609230.78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28.6368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3600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169.2308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071708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fr-CD" sz="14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709171.1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28.6385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168.8503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265798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8A5CA203-7CCF-AAC0-C197-4B0CE72867A8}"/>
              </a:ext>
            </a:extLst>
          </p:cNvPr>
          <p:cNvSpPr txBox="1"/>
          <p:nvPr/>
        </p:nvSpPr>
        <p:spPr>
          <a:xfrm>
            <a:off x="508000" y="4953000"/>
            <a:ext cx="1092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/>
              <a:t>Croissance forte mais qui decelere structurellement chaque annee. Extrapoler la tendance passee sans tenir compte de cette deceleration surestimerait 2026.</a:t>
            </a:r>
            <a:endParaRPr lang="fr-CD" sz="1600" b="1"/>
          </a:p>
        </p:txBody>
      </p:sp>
    </p:spTree>
    <p:extLst>
      <p:ext uri="{BB962C8B-B14F-4D97-AF65-F5344CB8AC3E}">
        <p14:creationId xmlns:p14="http://schemas.microsoft.com/office/powerpoint/2010/main" val="192020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4684C-0835-6B4C-A244-CDD7791C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Performance par canal de vente</a:t>
            </a:r>
            <a:endParaRPr lang="fr-CD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8870CF8-DD33-8978-15F8-64A4131D3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885487"/>
              </p:ext>
            </p:extLst>
          </p:nvPr>
        </p:nvGraphicFramePr>
        <p:xfrm>
          <a:off x="508000" y="1524000"/>
          <a:ext cx="10922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1509406255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745984158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224165229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431895309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92221239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fr-CD" sz="1300" b="1"/>
                        <a:t>Canal_Vente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 b="1"/>
                        <a:t>CA_Realise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 b="1"/>
                        <a:t>Marge_Nette_Reelle_Pct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 b="1"/>
                        <a:t>Panier_Moyen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 b="1"/>
                        <a:t>Taux_Retour_Pct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5638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fr-CD" sz="1300"/>
                        <a:t>Boutique Physique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914175.34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26.1681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155.3927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3.9096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44865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fr-CD" sz="130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361576.73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21.3431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159.7776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4.4189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534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fr-CD" sz="1300"/>
                        <a:t>Site E-commerce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334985.78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20.9346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156.3163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4.0131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2987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fr-CD" sz="1300"/>
                        <a:t>WhatsApp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334907.7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21.8045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167.0363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4.2394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896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fr-CD" sz="1300"/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320656.83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22.1046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166.575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3.5325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41915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fr-CD" sz="1300"/>
                        <a:t>Commercial Terrain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119523.88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26.5785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153.0395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300"/>
                        <a:t>3.4571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325234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8E6FB402-A9E4-D276-EA6D-B3F10E4AB3AC}"/>
              </a:ext>
            </a:extLst>
          </p:cNvPr>
          <p:cNvSpPr txBox="1"/>
          <p:nvPr/>
        </p:nvSpPr>
        <p:spPr>
          <a:xfrm>
            <a:off x="508000" y="5334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/>
              <a:t>Boutique Physique : 38% du CA, meilleure marge (26.2%). Digital : 57% du CA mais marge inferieure de 4-6 points.</a:t>
            </a:r>
            <a:endParaRPr lang="fr-CD" sz="1600" b="1"/>
          </a:p>
        </p:txBody>
      </p:sp>
    </p:spTree>
    <p:extLst>
      <p:ext uri="{BB962C8B-B14F-4D97-AF65-F5344CB8AC3E}">
        <p14:creationId xmlns:p14="http://schemas.microsoft.com/office/powerpoint/2010/main" val="351054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93F627-A8EF-69A9-FA5C-6A959B2C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Segmentation client (RFM)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B060F6B-277A-4FB3-0B6A-4B29AE26B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448769"/>
              </p:ext>
            </p:extLst>
          </p:nvPr>
        </p:nvGraphicFramePr>
        <p:xfrm>
          <a:off x="508000" y="1524000"/>
          <a:ext cx="10922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222389816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768632316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235637460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428745915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371688252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4037661576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fr-CD" sz="1200" b="1"/>
                        <a:t>Segment_RFM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 b="1"/>
                        <a:t>Nb_Clients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 b="1"/>
                        <a:t>Pct_Clients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 b="1"/>
                        <a:t>CA_Genere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 b="1"/>
                        <a:t>Pct_CA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 b="1"/>
                        <a:t>CLV_Moyen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75851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fr-CD" sz="1200"/>
                        <a:t>Clients Perdus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19.35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127881.78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5.3601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99.1332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26465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fr-CD" sz="1200"/>
                        <a:t>Clients Réguliers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231975.73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9.7231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716.7793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84465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fr-CD" sz="1200"/>
                        <a:t>Clients Fidèles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669692.86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28.0696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2678.7715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54436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fr-CD" sz="1200"/>
                        <a:t>Champions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1174512.79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49.2288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6199.7743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8404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fr-CD" sz="1200"/>
                        <a:t>Sans Achat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90091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fr-CD" sz="1200"/>
                        <a:t>Nouveaux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66968.6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2.8069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512.1132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1524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fr-CD" sz="1200"/>
                        <a:t>Clients à Risque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114794.5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4.8115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578.1018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027202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8271DA94-4F6A-ABFF-A97C-8DE6BAEC361B}"/>
              </a:ext>
            </a:extLst>
          </p:cNvPr>
          <p:cNvSpPr txBox="1"/>
          <p:nvPr/>
        </p:nvSpPr>
        <p:spPr>
          <a:xfrm>
            <a:off x="508000" y="5334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/>
              <a:t>Les Champions (17.1% des clients) generent 49.2% du CA total - forte concentration de la valeur.</a:t>
            </a:r>
            <a:endParaRPr lang="fr-CD" sz="1600" b="1"/>
          </a:p>
        </p:txBody>
      </p:sp>
    </p:spTree>
    <p:extLst>
      <p:ext uri="{BB962C8B-B14F-4D97-AF65-F5344CB8AC3E}">
        <p14:creationId xmlns:p14="http://schemas.microsoft.com/office/powerpoint/2010/main" val="158243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EEA8D4-DB19-1744-3C7B-6C5805BA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Gestion des stocks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C5732719-948E-EB77-8FC4-D4C1E77BD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085464"/>
              </p:ext>
            </p:extLst>
          </p:nvPr>
        </p:nvGraphicFramePr>
        <p:xfrm>
          <a:off x="508000" y="1524000"/>
          <a:ext cx="10922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3177097306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951935517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4166739225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2113497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fr-CD" sz="1400" b="1"/>
                        <a:t>Statut_Stock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Nb_Lignes_Stock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Valeur_Stock_USD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97404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fr-CD" sz="14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4392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73.2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3230910.13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7103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fr-CD" sz="1400"/>
                        <a:t>Surstock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4773793.59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42487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fr-CD" sz="1400"/>
                        <a:t>Faible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15535.13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8871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fr-CD" sz="1400"/>
                        <a:t>Rupture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2249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77879E4B-9A66-1173-B233-9F805826E0A4}"/>
              </a:ext>
            </a:extLst>
          </p:cNvPr>
          <p:cNvSpPr txBox="1"/>
          <p:nvPr/>
        </p:nvSpPr>
        <p:spPr>
          <a:xfrm>
            <a:off x="508000" y="4953000"/>
            <a:ext cx="1092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b="1"/>
              <a:t>23.2% des lignes de stock sont en surstock : 4 773 794 USD de capital immobilise, plus que le stock Normal.</a:t>
            </a:r>
            <a:endParaRPr lang="fr-CD" b="1"/>
          </a:p>
        </p:txBody>
      </p:sp>
    </p:spTree>
    <p:extLst>
      <p:ext uri="{BB962C8B-B14F-4D97-AF65-F5344CB8AC3E}">
        <p14:creationId xmlns:p14="http://schemas.microsoft.com/office/powerpoint/2010/main" val="267163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1CD9D-71F1-CECA-F343-B38F37B1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Objectifs commerciaux par boutique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84E5BFE-18E1-02F8-6A5C-C5FBDB324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734368"/>
              </p:ext>
            </p:extLst>
          </p:nvPr>
        </p:nvGraphicFramePr>
        <p:xfrm>
          <a:off x="508000" y="1397000"/>
          <a:ext cx="10922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94067600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457939222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961394574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331393462"/>
                    </a:ext>
                  </a:extLst>
                </a:gridCol>
              </a:tblGrid>
              <a:tr h="312615">
                <a:tc>
                  <a:txBody>
                    <a:bodyPr/>
                    <a:lstStyle/>
                    <a:p>
                      <a:r>
                        <a:rPr lang="fr-CD" sz="1000" b="1"/>
                        <a:t>Nom_Boutique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 b="1"/>
                        <a:t>Objectif_Total_USD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 b="1"/>
                        <a:t>Realise_Total_USD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 b="1"/>
                        <a:t>Taux_Realisation_Moyen_Pct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334926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E-commerce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4255200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1352127.04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30.364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680673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Kinshasa Limete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1276560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145896.42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11.548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577240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Kinshasa Masina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1276560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98250.01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7.8245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901681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Bukavu Ibanda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1296240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93550.29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7.2756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269118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Matadi Matadi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1296240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93722.28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7.27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741661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Kinshasa Ngaliema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1276560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91560.5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7.24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121105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Kolwezi Manika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694320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48288.89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6.9563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425701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Kinshasa Kintambo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1276560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84377.12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6.596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137087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Goma Goma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1560240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100927.46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6.556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4897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Mbuji-Mayi Dibindi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1008480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63806.49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6.3108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09590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Lubumbashi Lubumbashi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1560240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87571.15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5.679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44106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fr-CD" sz="1000"/>
                        <a:t>GongoTopFashion Kinshasa Gombe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3191400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125748.61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/>
                        <a:t>3.995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750477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1F1DEF99-F69F-E43B-73A8-EDE0EA3F18A0}"/>
              </a:ext>
            </a:extLst>
          </p:cNvPr>
          <p:cNvSpPr txBox="1"/>
          <p:nvPr/>
        </p:nvSpPr>
        <p:spPr>
          <a:xfrm>
            <a:off x="508000" y="5588000"/>
            <a:ext cx="1092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600" b="1"/>
              <a:t>AUCUNE boutique n'atteint son objectif (3.3% a 30.4%) - probleme de calibrage des cibles, pas de sous-performance generalisee.</a:t>
            </a:r>
            <a:endParaRPr lang="fr-CD" sz="1600" b="1"/>
          </a:p>
        </p:txBody>
      </p:sp>
    </p:spTree>
    <p:extLst>
      <p:ext uri="{BB962C8B-B14F-4D97-AF65-F5344CB8AC3E}">
        <p14:creationId xmlns:p14="http://schemas.microsoft.com/office/powerpoint/2010/main" val="33407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95946-2006-304F-1559-45523C02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Prevision de chiffre d'affaires 2026</a:t>
            </a:r>
            <a:endParaRPr lang="fr-CD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44F0520-BD54-72E3-5B80-CF617F18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268898"/>
              </p:ext>
            </p:extLst>
          </p:nvPr>
        </p:nvGraphicFramePr>
        <p:xfrm>
          <a:off x="508000" y="1524000"/>
          <a:ext cx="10922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3318160254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297277629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36353310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fr-CD" sz="1400" b="1"/>
                        <a:t>Methode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CA_Prevu_2026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 b="1"/>
                        <a:t>Croissance_Implicite_Pct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62808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fr-CD" sz="1400"/>
                        <a:t>Regression lineaire (tendance 2021-2025)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844365.531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19.0637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43881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fr-FR" sz="1400"/>
                        <a:t>Moyenne des 2 derniers taux de croissance (23.7% et 16.4%)</a:t>
                      </a:r>
                      <a:endParaRPr lang="fr-CD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851393.3958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20.0547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81252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fr-FR" sz="1400"/>
                        <a:t>Hypothese prudente (poursuite de la deceleration observee)</a:t>
                      </a:r>
                      <a:endParaRPr lang="fr-CD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742622.4998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400"/>
                        <a:t>4.717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156374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4D7BF51E-EA7F-9C7E-5A80-D1F2BB4C7AE4}"/>
              </a:ext>
            </a:extLst>
          </p:cNvPr>
          <p:cNvSpPr txBox="1"/>
          <p:nvPr/>
        </p:nvSpPr>
        <p:spPr>
          <a:xfrm>
            <a:off x="508000" y="4318000"/>
            <a:ext cx="10922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000" b="1"/>
              <a:t>Fourchette retenue : 743 000 - 851 000 USD (+5% a +20% vs 2025)</a:t>
            </a:r>
            <a:endParaRPr lang="fr-CD" sz="2000" b="1"/>
          </a:p>
        </p:txBody>
      </p:sp>
    </p:spTree>
    <p:extLst>
      <p:ext uri="{BB962C8B-B14F-4D97-AF65-F5344CB8AC3E}">
        <p14:creationId xmlns:p14="http://schemas.microsoft.com/office/powerpoint/2010/main" val="3171559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1371B-822E-1449-E812-D143282F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ROI marketing pondere vs qualite client acquis</a:t>
            </a:r>
            <a:endParaRPr lang="fr-CD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62871E5-4F38-4A94-34AA-CD3CFD359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861107"/>
              </p:ext>
            </p:extLst>
          </p:nvPr>
        </p:nvGraphicFramePr>
        <p:xfrm>
          <a:off x="508000" y="1524000"/>
          <a:ext cx="10922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3393797386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049654697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290107667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172953305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lang="fr-CD" sz="1200" b="1"/>
                        <a:t>Canal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 b="1"/>
                        <a:t>ROI_Pondere_Pct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1"/>
                        <a:t>CLV_Moyen_Client_Acquis_USD</a:t>
                      </a:r>
                      <a:endParaRPr lang="fr-CD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 b="1"/>
                        <a:t>Pct_Champions_Acquis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16589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WhatsApp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865.4367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1163.8301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11.2971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29231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Google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716.0201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55282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662.5193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1370.8051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18.2796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44675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600.5915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1574.4295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15.4982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83834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Site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597.8222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95108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Affichage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97.3254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18795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79.178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21021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fr-CD" sz="1200"/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64.7819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20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371681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7F294D0D-AEBE-26E8-D4F5-4FDFE6CAE48F}"/>
              </a:ext>
            </a:extLst>
          </p:cNvPr>
          <p:cNvSpPr txBox="1"/>
          <p:nvPr/>
        </p:nvSpPr>
        <p:spPr>
          <a:xfrm>
            <a:off x="508000" y="5588000"/>
            <a:ext cx="10922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500" b="1"/>
              <a:t>WhatsApp Business : meilleur ROI (865%) mais CLV la plus faible (1164 USD). Ne pas piloter le budget sur le seul ROI court terme.</a:t>
            </a:r>
            <a:endParaRPr lang="fr-CD" sz="1500" b="1"/>
          </a:p>
        </p:txBody>
      </p:sp>
    </p:spTree>
    <p:extLst>
      <p:ext uri="{BB962C8B-B14F-4D97-AF65-F5344CB8AC3E}">
        <p14:creationId xmlns:p14="http://schemas.microsoft.com/office/powerpoint/2010/main" val="310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6E0FE-BC49-CA89-22F6-E9C8C953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PRIORITE HAUTE : Gestion des stocks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9916C2-10BA-E103-5928-1BF3223252D4}"/>
              </a:ext>
            </a:extLst>
          </p:cNvPr>
          <p:cNvSpPr txBox="1"/>
          <p:nvPr/>
        </p:nvSpPr>
        <p:spPr>
          <a:xfrm>
            <a:off x="508000" y="139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Constat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7CC9E6-6944-CA5A-6833-71AD6FB912B9}"/>
              </a:ext>
            </a:extLst>
          </p:cNvPr>
          <p:cNvSpPr txBox="1"/>
          <p:nvPr/>
        </p:nvSpPr>
        <p:spPr>
          <a:xfrm>
            <a:off x="508000" y="184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23.2% des lignes de stock (1392/6000) sont en surstock</a:t>
            </a:r>
            <a:endParaRPr lang="fr-CD" sz="140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17F8D9D-781A-4EA6-A08D-43AB7975C455}"/>
              </a:ext>
            </a:extLst>
          </p:cNvPr>
          <p:cNvSpPr txBox="1"/>
          <p:nvPr/>
        </p:nvSpPr>
        <p:spPr>
          <a:xfrm>
            <a:off x="508000" y="266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Impact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C4E5315-39C0-E493-C0CF-F26FDA24AE5C}"/>
              </a:ext>
            </a:extLst>
          </p:cNvPr>
          <p:cNvSpPr txBox="1"/>
          <p:nvPr/>
        </p:nvSpPr>
        <p:spPr>
          <a:xfrm>
            <a:off x="508000" y="311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4 773 794 USD de capital immobilise - plus que tout le stock Normal (3 230 910 USD)</a:t>
            </a:r>
            <a:endParaRPr lang="fr-CD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9579468-D7D2-9B0F-0FDC-18EED7152761}"/>
              </a:ext>
            </a:extLst>
          </p:cNvPr>
          <p:cNvSpPr txBox="1"/>
          <p:nvPr/>
        </p:nvSpPr>
        <p:spPr>
          <a:xfrm>
            <a:off x="508000" y="393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Recommandation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B37DA88-B243-1BE8-2F45-0D4FBE3D50E6}"/>
              </a:ext>
            </a:extLst>
          </p:cNvPr>
          <p:cNvSpPr txBox="1"/>
          <p:nvPr/>
        </p:nvSpPr>
        <p:spPr>
          <a:xfrm>
            <a:off x="508000" y="438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Lancer un audit des references en surstock et un plan de destockage cible (promotions, transferts entre boutiques) avant d'investir dans de nouveaux achats</a:t>
            </a:r>
            <a:endParaRPr lang="fr-CD" sz="14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1DE7AD7-DC11-2639-C8F0-38B8B8727869}"/>
              </a:ext>
            </a:extLst>
          </p:cNvPr>
          <p:cNvSpPr txBox="1"/>
          <p:nvPr/>
        </p:nvSpPr>
        <p:spPr>
          <a:xfrm>
            <a:off x="508000" y="520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Action concrete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3C8D912-D705-2890-D93D-9A1F33C01F00}"/>
              </a:ext>
            </a:extLst>
          </p:cNvPr>
          <p:cNvSpPr txBox="1"/>
          <p:nvPr/>
        </p:nvSpPr>
        <p:spPr>
          <a:xfrm>
            <a:off x="508000" y="565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Identifier les 1392 references en surstock (feuille Stocks_Statut, Phase 5), prioriser par valeur immobilisee, definir un objectif de reduction a 3 mois</a:t>
            </a:r>
            <a:endParaRPr lang="fr-CD" sz="1400"/>
          </a:p>
        </p:txBody>
      </p:sp>
    </p:spTree>
    <p:extLst>
      <p:ext uri="{BB962C8B-B14F-4D97-AF65-F5344CB8AC3E}">
        <p14:creationId xmlns:p14="http://schemas.microsoft.com/office/powerpoint/2010/main" val="3331256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823511-B12A-E926-AE11-B2EBDF0C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PRIORITE HAUTE : Pilotage commercial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545F9ED-471D-57C5-9BB0-7FD336B9CF6F}"/>
              </a:ext>
            </a:extLst>
          </p:cNvPr>
          <p:cNvSpPr txBox="1"/>
          <p:nvPr/>
        </p:nvSpPr>
        <p:spPr>
          <a:xfrm>
            <a:off x="508000" y="139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Constat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A63F1FB-2D23-9F40-F600-3AA1D673ADC5}"/>
              </a:ext>
            </a:extLst>
          </p:cNvPr>
          <p:cNvSpPr txBox="1"/>
          <p:nvPr/>
        </p:nvSpPr>
        <p:spPr>
          <a:xfrm>
            <a:off x="508000" y="184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Aucune des 12 boutiques n'atteint son objectif commercial (3.3% a 30.4% de realisation)</a:t>
            </a:r>
            <a:endParaRPr lang="fr-CD" sz="140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9536C1-791C-EDB5-88A4-DC3CB0298C89}"/>
              </a:ext>
            </a:extLst>
          </p:cNvPr>
          <p:cNvSpPr txBox="1"/>
          <p:nvPr/>
        </p:nvSpPr>
        <p:spPr>
          <a:xfrm>
            <a:off x="508000" y="266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Impact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149DA63-754F-1B04-2C98-FA892851FA19}"/>
              </a:ext>
            </a:extLst>
          </p:cNvPr>
          <p:cNvSpPr txBox="1"/>
          <p:nvPr/>
        </p:nvSpPr>
        <p:spPr>
          <a:xfrm>
            <a:off x="508000" y="311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Ecart uniforme sur 100% des entites - indicateur de pilotage actuellement inutilisable</a:t>
            </a:r>
            <a:endParaRPr lang="fr-CD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E8239D-ED11-3F8D-D00E-EB1A66C131C3}"/>
              </a:ext>
            </a:extLst>
          </p:cNvPr>
          <p:cNvSpPr txBox="1"/>
          <p:nvPr/>
        </p:nvSpPr>
        <p:spPr>
          <a:xfrm>
            <a:off x="508000" y="393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Recommandation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E62D607-3DCF-7E29-20FC-D2FE53A28B81}"/>
              </a:ext>
            </a:extLst>
          </p:cNvPr>
          <p:cNvSpPr txBox="1"/>
          <p:nvPr/>
        </p:nvSpPr>
        <p:spPr>
          <a:xfrm>
            <a:off x="508000" y="438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Recalibrer la methode de fixation des objectifs commerciaux avant de les reutiliser pour le pilotage ou le calcul des primes</a:t>
            </a:r>
            <a:endParaRPr lang="fr-CD" sz="14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A4E503-DDA2-842E-F2AD-A4019FEE9FD7}"/>
              </a:ext>
            </a:extLst>
          </p:cNvPr>
          <p:cNvSpPr txBox="1"/>
          <p:nvPr/>
        </p:nvSpPr>
        <p:spPr>
          <a:xfrm>
            <a:off x="508000" y="520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Action concrete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B57D18-9CAD-0EF9-14EA-5F14C22659B7}"/>
              </a:ext>
            </a:extLst>
          </p:cNvPr>
          <p:cNvSpPr txBox="1"/>
          <p:nvPr/>
        </p:nvSpPr>
        <p:spPr>
          <a:xfrm>
            <a:off x="508000" y="565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Reconstruire les objectifs a partir du CA reel des 12 derniers mois + une cible de croissance realiste (ex. +15-20%), pas d'une projection deconnectee de l'historique</a:t>
            </a:r>
            <a:endParaRPr lang="fr-CD" sz="1400"/>
          </a:p>
        </p:txBody>
      </p:sp>
    </p:spTree>
    <p:extLst>
      <p:ext uri="{BB962C8B-B14F-4D97-AF65-F5344CB8AC3E}">
        <p14:creationId xmlns:p14="http://schemas.microsoft.com/office/powerpoint/2010/main" val="384194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F1043-B8B0-AB70-A009-968C40A0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PRIORITE HAUTE : Retention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7F573F-D551-89BE-6A5E-40DC74411B9B}"/>
              </a:ext>
            </a:extLst>
          </p:cNvPr>
          <p:cNvSpPr txBox="1"/>
          <p:nvPr/>
        </p:nvSpPr>
        <p:spPr>
          <a:xfrm>
            <a:off x="508000" y="139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Constat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B3BC54-4393-5784-56BE-2187171BE544}"/>
              </a:ext>
            </a:extLst>
          </p:cNvPr>
          <p:cNvSpPr txBox="1"/>
          <p:nvPr/>
        </p:nvSpPr>
        <p:spPr>
          <a:xfrm>
            <a:off x="508000" y="184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44.4% des clients ne sont pas actifs (16.35% Perdus, 15.2% Inactifs, 12.85% jamais actifs) ; chaque cohorte perd ~18% de son CA par an</a:t>
            </a:r>
            <a:endParaRPr lang="fr-CD" sz="140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03039D-3C0F-ABD5-0E86-5D2B7A425C7E}"/>
              </a:ext>
            </a:extLst>
          </p:cNvPr>
          <p:cNvSpPr txBox="1"/>
          <p:nvPr/>
        </p:nvSpPr>
        <p:spPr>
          <a:xfrm>
            <a:off x="508000" y="266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Impact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8261DC-D6FB-F171-5A8D-87899C4D04B8}"/>
              </a:ext>
            </a:extLst>
          </p:cNvPr>
          <p:cNvSpPr txBox="1"/>
          <p:nvPr/>
        </p:nvSpPr>
        <p:spPr>
          <a:xfrm>
            <a:off x="508000" y="311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213 979 USD de CA sur clients Perdus + 257 clients jamais convertis ; cohorte 2021 ne genere plus que 43.9% de son CA initial 4 ans apres</a:t>
            </a:r>
            <a:endParaRPr lang="fr-CD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4A5DA3-BF8B-2A78-116E-801FDAA43FA0}"/>
              </a:ext>
            </a:extLst>
          </p:cNvPr>
          <p:cNvSpPr txBox="1"/>
          <p:nvPr/>
        </p:nvSpPr>
        <p:spPr>
          <a:xfrm>
            <a:off x="508000" y="393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Recommandation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B0CF27F-50DC-FF5B-6865-F11AADE4A428}"/>
              </a:ext>
            </a:extLst>
          </p:cNvPr>
          <p:cNvSpPr txBox="1"/>
          <p:nvPr/>
        </p:nvSpPr>
        <p:spPr>
          <a:xfrm>
            <a:off x="508000" y="438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Mettre en place un suivi de retention par cohorte en routine et tester des actions de reactivation ciblees sur les cohortes matures (2021-2022) et les clients Inactifs</a:t>
            </a:r>
            <a:endParaRPr lang="fr-CD" sz="14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8F4F74A-9E03-DAC7-C0BE-DB2D4494C98F}"/>
              </a:ext>
            </a:extLst>
          </p:cNvPr>
          <p:cNvSpPr txBox="1"/>
          <p:nvPr/>
        </p:nvSpPr>
        <p:spPr>
          <a:xfrm>
            <a:off x="508000" y="520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Action concrete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15A0922-BF0E-AE81-712F-A291BB4EBB65}"/>
              </a:ext>
            </a:extLst>
          </p:cNvPr>
          <p:cNvSpPr txBox="1"/>
          <p:nvPr/>
        </p:nvSpPr>
        <p:spPr>
          <a:xfrm>
            <a:off x="508000" y="565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Campagne de reactivation ciblee (offre personnalisee) sur les 304 clients Inactifs et les 257 clients Sans Achat en priorite (CLV potentiel le plus vite recuperable)</a:t>
            </a:r>
            <a:endParaRPr lang="fr-CD" sz="1400"/>
          </a:p>
        </p:txBody>
      </p:sp>
    </p:spTree>
    <p:extLst>
      <p:ext uri="{BB962C8B-B14F-4D97-AF65-F5344CB8AC3E}">
        <p14:creationId xmlns:p14="http://schemas.microsoft.com/office/powerpoint/2010/main" val="2672064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0483F-C412-D197-0A48-EDFEE6CA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PRIORITE HAUTE : Allocation budget marketing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5F303A-962E-12D0-01F9-4E70D1C2C836}"/>
              </a:ext>
            </a:extLst>
          </p:cNvPr>
          <p:cNvSpPr txBox="1"/>
          <p:nvPr/>
        </p:nvSpPr>
        <p:spPr>
          <a:xfrm>
            <a:off x="508000" y="139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Constat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13201E-F6D3-4754-5377-947EDAF2F795}"/>
              </a:ext>
            </a:extLst>
          </p:cNvPr>
          <p:cNvSpPr txBox="1"/>
          <p:nvPr/>
        </p:nvSpPr>
        <p:spPr>
          <a:xfrm>
            <a:off x="508000" y="184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Le canal au meilleur ROI publicitaire pondere (WhatsApp Business, 865%) recrute les clients a la CLV la plus faible (1164 USD, 11.3% Champions)</a:t>
            </a:r>
            <a:endParaRPr lang="fr-CD" sz="140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8CA474A-106B-A746-1E70-E4F78B750FC3}"/>
              </a:ext>
            </a:extLst>
          </p:cNvPr>
          <p:cNvSpPr txBox="1"/>
          <p:nvPr/>
        </p:nvSpPr>
        <p:spPr>
          <a:xfrm>
            <a:off x="508000" y="266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Impact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9DE893-91F6-E44B-57EA-B8C2E9DD8E73}"/>
              </a:ext>
            </a:extLst>
          </p:cNvPr>
          <p:cNvSpPr txBox="1"/>
          <p:nvPr/>
        </p:nvSpPr>
        <p:spPr>
          <a:xfrm>
            <a:off x="508000" y="31115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Paradoxe ROI vs qualite client sur au moins 1352127 USD de CA genere par les canaux digitaux mesures</a:t>
            </a:r>
            <a:endParaRPr lang="fr-CD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CD60F7-42E5-F25C-BB5A-520B51E26A52}"/>
              </a:ext>
            </a:extLst>
          </p:cNvPr>
          <p:cNvSpPr txBox="1"/>
          <p:nvPr/>
        </p:nvSpPr>
        <p:spPr>
          <a:xfrm>
            <a:off x="508000" y="393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Recommandation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E75AD42-57DB-3DFF-7A90-4E819B21A246}"/>
              </a:ext>
            </a:extLst>
          </p:cNvPr>
          <p:cNvSpPr txBox="1"/>
          <p:nvPr/>
        </p:nvSpPr>
        <p:spPr>
          <a:xfrm>
            <a:off x="508000" y="438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Ne plus arbitrer le budget marketing sur le seul ROI court terme. Integrer un indicateur de qualite du client acquis (CLV, % conversion en Champion a 12 mois) dans l'evaluation de chaque canal</a:t>
            </a:r>
            <a:endParaRPr lang="fr-CD" sz="14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90DF98-7675-9927-9693-780867D198E2}"/>
              </a:ext>
            </a:extLst>
          </p:cNvPr>
          <p:cNvSpPr txBox="1"/>
          <p:nvPr/>
        </p:nvSpPr>
        <p:spPr>
          <a:xfrm>
            <a:off x="508000" y="52070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CD" sz="1600" b="1"/>
              <a:t>Action concrete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946374F-B9CD-29B1-9627-021F5915CFB2}"/>
              </a:ext>
            </a:extLst>
          </p:cNvPr>
          <p:cNvSpPr txBox="1"/>
          <p:nvPr/>
        </p:nvSpPr>
        <p:spPr>
          <a:xfrm>
            <a:off x="508000" y="56515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400"/>
              <a:t>Ponderer les decisions budgetaires par un score combine ROI x CLV_moyen_acquis, pas par le ROI seul. Reevaluer l'allocation Facebook/Instagram (CLV superieure) vs WhatsApp</a:t>
            </a:r>
            <a:endParaRPr lang="fr-CD" sz="1400"/>
          </a:p>
        </p:txBody>
      </p:sp>
    </p:spTree>
    <p:extLst>
      <p:ext uri="{BB962C8B-B14F-4D97-AF65-F5344CB8AC3E}">
        <p14:creationId xmlns:p14="http://schemas.microsoft.com/office/powerpoint/2010/main" val="973396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396ED4-6D39-BE42-1260-1B5B447B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PRIORITE MOYENNE : synthese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BE38C0B-1D5A-3DD5-377E-F11AB4541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92734"/>
              </p:ext>
            </p:extLst>
          </p:nvPr>
        </p:nvGraphicFramePr>
        <p:xfrm>
          <a:off x="381000" y="1397000"/>
          <a:ext cx="114300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110805944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3396616042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fr-CD" sz="1000" b="1"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 b="1"/>
                        <a:t>Recommandation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407107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CD" sz="1000"/>
                        <a:t>Qualite produit / retours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Ameliorer les fiches produit et guides de tailles avant d'investir dans le controle qualite - action a faible cout et impact rapide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383215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CD" sz="1000"/>
                        <a:t>Rentabilite canal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Prioriser la reduction des couts logistiques et du taux de retour sur les canaux digitaux plutot que de ralentir leur croissance (qui reste positive pour le volume)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139425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FR" sz="1000"/>
                        <a:t>Anomalie operationnelle - vente sans vendeur</a:t>
                      </a:r>
                      <a:endParaRPr lang="fr-C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Investiguer avec les responsables de boutique - ne pas fabriquer un ID vendeur fictif dans les donnees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90717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CD" sz="1000"/>
                        <a:t>Fiabilite fournisseurs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Utiliser le taux de retard mesure sur l'historique Achats_Fournisseurs comme critere principal de selection, en complement du score declare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81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553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84B682-8051-0003-B29D-9484E0BD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PRIORITE BASSE : synthese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C24FB66-258E-8100-FF55-348CFF450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53135"/>
              </p:ext>
            </p:extLst>
          </p:nvPr>
        </p:nvGraphicFramePr>
        <p:xfrm>
          <a:off x="381000" y="1397000"/>
          <a:ext cx="114300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7480471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940068255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fr-CD" sz="1000" b="1"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D" sz="1000" b="1"/>
                        <a:t>Recommandation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21722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CD" sz="1000"/>
                        <a:t>Planification saisonniere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Caler les objectifs mensuels, les niveaux de stock et les campagnes promotionnelles sur l'indice de saisonnalite plutot que sur une repartition uniforme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753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CD" sz="1000"/>
                        <a:t>Developpement 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Explorer un developpement cible de la categorie Accessoires de Mode (marketing, largeur de gamme) - potentiel de rentabilite sous-exploite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76406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CD" sz="1000"/>
                        <a:t>Produits dormants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Auditer ces 3 references (positionnement prix, visibilite, pertinence de la gamme) et decider deferencement ou repositionnement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72839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fr-FR" sz="1000"/>
                        <a:t>Partage de bonnes pratiques commerciales</a:t>
                      </a:r>
                      <a:endParaRPr lang="fr-CD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Organiser un partage de pratiques commerciales du noyau de top performeurs vers le reste des equipes</a:t>
                      </a:r>
                      <a:endParaRPr lang="fr-CD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799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06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CA81F-8A4D-6848-F119-247C54715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D"/>
              <a:t>Merci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0F6C9A-664A-B692-F38D-9AE9B76DE900}"/>
              </a:ext>
            </a:extLst>
          </p:cNvPr>
          <p:cNvSpPr txBox="1"/>
          <p:nvPr/>
        </p:nvSpPr>
        <p:spPr>
          <a:xfrm>
            <a:off x="508000" y="2540000"/>
            <a:ext cx="1092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000"/>
              <a:t>Rapport complet, tableau de bord Excel et dashboard web disponibles en complement de cette presentation.</a:t>
            </a:r>
            <a:endParaRPr lang="fr-CD" sz="2000"/>
          </a:p>
        </p:txBody>
      </p:sp>
    </p:spTree>
    <p:extLst>
      <p:ext uri="{BB962C8B-B14F-4D97-AF65-F5344CB8AC3E}">
        <p14:creationId xmlns:p14="http://schemas.microsoft.com/office/powerpoint/2010/main" val="42314456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</Words>
  <Application>Microsoft Office PowerPoint</Application>
  <PresentationFormat>Grand écran</PresentationFormat>
  <Paragraphs>327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Thème Office</vt:lpstr>
      <vt:lpstr>CONGO TOP FASHION</vt:lpstr>
      <vt:lpstr>Resume executif</vt:lpstr>
      <vt:lpstr>Evolution du chiffre d'affaires 2021-2025</vt:lpstr>
      <vt:lpstr>Performance par canal de vente</vt:lpstr>
      <vt:lpstr>Segmentation client (RFM)</vt:lpstr>
      <vt:lpstr>Gestion des stocks</vt:lpstr>
      <vt:lpstr>Objectifs commerciaux par boutique</vt:lpstr>
      <vt:lpstr>Prevision de chiffre d'affaires 2026</vt:lpstr>
      <vt:lpstr>ROI marketing pondere vs qualite client acquis</vt:lpstr>
      <vt:lpstr>PRIORITE HAUTE : Gestion des stocks</vt:lpstr>
      <vt:lpstr>PRIORITE HAUTE : Pilotage commercial</vt:lpstr>
      <vt:lpstr>PRIORITE HAUTE : Retention client</vt:lpstr>
      <vt:lpstr>PRIORITE HAUTE : Allocation budget marketing</vt:lpstr>
      <vt:lpstr>PRIORITE MOYENNE : synthese</vt:lpstr>
      <vt:lpstr>PRIORITE BASSE : synthese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Lucien Buzera</dc:creator>
  <cp:lastModifiedBy>Lucien Buzera</cp:lastModifiedBy>
  <cp:revision>1</cp:revision>
  <dcterms:created xsi:type="dcterms:W3CDTF">2026-09-05T15:32:01Z</dcterms:created>
  <dcterms:modified xsi:type="dcterms:W3CDTF">2026-09-05T15:32:01Z</dcterms:modified>
</cp:coreProperties>
</file>